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11"/>
  </p:notesMasterIdLst>
  <p:sldIdLst>
    <p:sldId id="256" r:id="rId2"/>
    <p:sldId id="257" r:id="rId3"/>
    <p:sldId id="258" r:id="rId4"/>
    <p:sldId id="266" r:id="rId5"/>
    <p:sldId id="267" r:id="rId6"/>
    <p:sldId id="268" r:id="rId7"/>
    <p:sldId id="269" r:id="rId8"/>
    <p:sldId id="270" r:id="rId9"/>
    <p:sldId id="265"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6"/>
  </p:normalViewPr>
  <p:slideViewPr>
    <p:cSldViewPr snapToGrid="0">
      <p:cViewPr varScale="1">
        <p:scale>
          <a:sx n="103" d="100"/>
          <a:sy n="103" d="100"/>
        </p:scale>
        <p:origin x="87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663947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 name="Google Shape;2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gddab8fa82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 name="Google Shape;30;gddab8fa82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gddab8fa825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8878D826-FF84-AC6F-FDC5-EFBDA8EED2BD}"/>
            </a:ext>
          </a:extLst>
        </p:cNvPr>
        <p:cNvGrpSpPr/>
        <p:nvPr/>
      </p:nvGrpSpPr>
      <p:grpSpPr>
        <a:xfrm>
          <a:off x="0" y="0"/>
          <a:ext cx="0" cy="0"/>
          <a:chOff x="0" y="0"/>
          <a:chExt cx="0" cy="0"/>
        </a:xfrm>
      </p:grpSpPr>
      <p:sp>
        <p:nvSpPr>
          <p:cNvPr id="34" name="Google Shape;34;gddab8fa825_0_23:notes">
            <a:extLst>
              <a:ext uri="{FF2B5EF4-FFF2-40B4-BE49-F238E27FC236}">
                <a16:creationId xmlns:a16="http://schemas.microsoft.com/office/drawing/2014/main" id="{421F9589-D6FC-1294-227F-44712499F5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a:extLst>
              <a:ext uri="{FF2B5EF4-FFF2-40B4-BE49-F238E27FC236}">
                <a16:creationId xmlns:a16="http://schemas.microsoft.com/office/drawing/2014/main" id="{C2470D4A-8346-9A1E-C14A-678001FF0C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3095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5F662615-BF56-2448-B87A-5A38B4B27CAF}"/>
            </a:ext>
          </a:extLst>
        </p:cNvPr>
        <p:cNvGrpSpPr/>
        <p:nvPr/>
      </p:nvGrpSpPr>
      <p:grpSpPr>
        <a:xfrm>
          <a:off x="0" y="0"/>
          <a:ext cx="0" cy="0"/>
          <a:chOff x="0" y="0"/>
          <a:chExt cx="0" cy="0"/>
        </a:xfrm>
      </p:grpSpPr>
      <p:sp>
        <p:nvSpPr>
          <p:cNvPr id="34" name="Google Shape;34;gddab8fa825_0_23:notes">
            <a:extLst>
              <a:ext uri="{FF2B5EF4-FFF2-40B4-BE49-F238E27FC236}">
                <a16:creationId xmlns:a16="http://schemas.microsoft.com/office/drawing/2014/main" id="{DABCF4F9-BC91-36F1-AE8B-555A7B0E7F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a:extLst>
              <a:ext uri="{FF2B5EF4-FFF2-40B4-BE49-F238E27FC236}">
                <a16:creationId xmlns:a16="http://schemas.microsoft.com/office/drawing/2014/main" id="{C0F2F9A2-532D-DC51-29DE-69B83A4D64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6954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AAAD728B-E54E-1E46-1710-E7D7CDB65B99}"/>
            </a:ext>
          </a:extLst>
        </p:cNvPr>
        <p:cNvGrpSpPr/>
        <p:nvPr/>
      </p:nvGrpSpPr>
      <p:grpSpPr>
        <a:xfrm>
          <a:off x="0" y="0"/>
          <a:ext cx="0" cy="0"/>
          <a:chOff x="0" y="0"/>
          <a:chExt cx="0" cy="0"/>
        </a:xfrm>
      </p:grpSpPr>
      <p:sp>
        <p:nvSpPr>
          <p:cNvPr id="34" name="Google Shape;34;gddab8fa825_0_23:notes">
            <a:extLst>
              <a:ext uri="{FF2B5EF4-FFF2-40B4-BE49-F238E27FC236}">
                <a16:creationId xmlns:a16="http://schemas.microsoft.com/office/drawing/2014/main" id="{C4E8493D-B9E1-B6AC-9A34-CC8AD87D98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a:extLst>
              <a:ext uri="{FF2B5EF4-FFF2-40B4-BE49-F238E27FC236}">
                <a16:creationId xmlns:a16="http://schemas.microsoft.com/office/drawing/2014/main" id="{A3BF37F0-946A-E18A-4575-E832ADF7EB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64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2C74FB49-5C7F-BE3D-BB18-D8D77F8C1E78}"/>
            </a:ext>
          </a:extLst>
        </p:cNvPr>
        <p:cNvGrpSpPr/>
        <p:nvPr/>
      </p:nvGrpSpPr>
      <p:grpSpPr>
        <a:xfrm>
          <a:off x="0" y="0"/>
          <a:ext cx="0" cy="0"/>
          <a:chOff x="0" y="0"/>
          <a:chExt cx="0" cy="0"/>
        </a:xfrm>
      </p:grpSpPr>
      <p:sp>
        <p:nvSpPr>
          <p:cNvPr id="34" name="Google Shape;34;gddab8fa825_0_23:notes">
            <a:extLst>
              <a:ext uri="{FF2B5EF4-FFF2-40B4-BE49-F238E27FC236}">
                <a16:creationId xmlns:a16="http://schemas.microsoft.com/office/drawing/2014/main" id="{BA36440E-C657-1D9B-F41B-616E3BD514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a:extLst>
              <a:ext uri="{FF2B5EF4-FFF2-40B4-BE49-F238E27FC236}">
                <a16:creationId xmlns:a16="http://schemas.microsoft.com/office/drawing/2014/main" id="{A094D185-8683-331E-B6C1-78A8EB1237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824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A16055C6-10DB-A081-4DDA-96CEA1803077}"/>
            </a:ext>
          </a:extLst>
        </p:cNvPr>
        <p:cNvGrpSpPr/>
        <p:nvPr/>
      </p:nvGrpSpPr>
      <p:grpSpPr>
        <a:xfrm>
          <a:off x="0" y="0"/>
          <a:ext cx="0" cy="0"/>
          <a:chOff x="0" y="0"/>
          <a:chExt cx="0" cy="0"/>
        </a:xfrm>
      </p:grpSpPr>
      <p:sp>
        <p:nvSpPr>
          <p:cNvPr id="34" name="Google Shape;34;gddab8fa825_0_23:notes">
            <a:extLst>
              <a:ext uri="{FF2B5EF4-FFF2-40B4-BE49-F238E27FC236}">
                <a16:creationId xmlns:a16="http://schemas.microsoft.com/office/drawing/2014/main" id="{A09D6F6C-1A21-2792-D5E6-23F3DAC9E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 name="Google Shape;35;gddab8fa825_0_23:notes">
            <a:extLst>
              <a:ext uri="{FF2B5EF4-FFF2-40B4-BE49-F238E27FC236}">
                <a16:creationId xmlns:a16="http://schemas.microsoft.com/office/drawing/2014/main" id="{FE290FD6-69F2-3A98-7AB6-64371C352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666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ddab8fa82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ddab8fa825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
          <p:cNvSpPr txBox="1">
            <a:spLocks noGrp="1"/>
          </p:cNvSpPr>
          <p:nvPr>
            <p:ph type="dt" idx="10"/>
          </p:nvPr>
        </p:nvSpPr>
        <p:spPr>
          <a:xfrm rot="10800000" flipH="1">
            <a:off x="1657700" y="5143737"/>
            <a:ext cx="2057400" cy="115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Char char="●"/>
              <a:defRPr sz="5200"/>
            </a:lvl1pPr>
            <a:lvl2pPr lvl="1" algn="ctr" rtl="0">
              <a:spcBef>
                <a:spcPts val="0"/>
              </a:spcBef>
              <a:spcAft>
                <a:spcPts val="0"/>
              </a:spcAft>
              <a:buSzPts val="5200"/>
              <a:buChar char="○"/>
              <a:defRPr sz="5200"/>
            </a:lvl2pPr>
            <a:lvl3pPr lvl="2" algn="ctr" rtl="0">
              <a:spcBef>
                <a:spcPts val="0"/>
              </a:spcBef>
              <a:spcAft>
                <a:spcPts val="0"/>
              </a:spcAft>
              <a:buSzPts val="5200"/>
              <a:buChar char="■"/>
              <a:defRPr sz="5200"/>
            </a:lvl3pPr>
            <a:lvl4pPr lvl="3" algn="ctr" rtl="0">
              <a:spcBef>
                <a:spcPts val="0"/>
              </a:spcBef>
              <a:spcAft>
                <a:spcPts val="0"/>
              </a:spcAft>
              <a:buSzPts val="5200"/>
              <a:buChar char="●"/>
              <a:defRPr sz="5200"/>
            </a:lvl4pPr>
            <a:lvl5pPr lvl="4" algn="ctr" rtl="0">
              <a:spcBef>
                <a:spcPts val="0"/>
              </a:spcBef>
              <a:spcAft>
                <a:spcPts val="0"/>
              </a:spcAft>
              <a:buSzPts val="5200"/>
              <a:buChar char="○"/>
              <a:defRPr sz="5200"/>
            </a:lvl5pPr>
            <a:lvl6pPr lvl="5" algn="ctr" rtl="0">
              <a:spcBef>
                <a:spcPts val="0"/>
              </a:spcBef>
              <a:spcAft>
                <a:spcPts val="0"/>
              </a:spcAft>
              <a:buSzPts val="5200"/>
              <a:buChar char="■"/>
              <a:defRPr sz="5200"/>
            </a:lvl6pPr>
            <a:lvl7pPr lvl="6" algn="ctr" rtl="0">
              <a:spcBef>
                <a:spcPts val="0"/>
              </a:spcBef>
              <a:spcAft>
                <a:spcPts val="0"/>
              </a:spcAft>
              <a:buSzPts val="5200"/>
              <a:buChar char="●"/>
              <a:defRPr sz="5200"/>
            </a:lvl7pPr>
            <a:lvl8pPr lvl="7" algn="ctr" rtl="0">
              <a:spcBef>
                <a:spcPts val="0"/>
              </a:spcBef>
              <a:spcAft>
                <a:spcPts val="0"/>
              </a:spcAft>
              <a:buSzPts val="5200"/>
              <a:buChar char="○"/>
              <a:defRPr sz="5200"/>
            </a:lvl8pPr>
            <a:lvl9pPr lvl="8" algn="ctr" rtl="0">
              <a:spcBef>
                <a:spcPts val="0"/>
              </a:spcBef>
              <a:spcAft>
                <a:spcPts val="0"/>
              </a:spcAft>
              <a:buSzPts val="5200"/>
              <a:buChar char="■"/>
              <a:defRPr sz="5200"/>
            </a:lvl9pPr>
          </a:lstStyle>
          <a:p>
            <a:endParaRPr/>
          </a:p>
        </p:txBody>
      </p:sp>
      <p:sp>
        <p:nvSpPr>
          <p:cNvPr id="18" name="Google Shape;18;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45700" rIns="91425" bIns="457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0" y="479368"/>
            <a:ext cx="9144000" cy="4658100"/>
          </a:xfrm>
          <a:prstGeom prst="rect">
            <a:avLst/>
          </a:prstGeom>
          <a:blipFill rotWithShape="1">
            <a:blip r:embed="rId4">
              <a:alphaModFix/>
            </a:blip>
            <a:tile tx="0" ty="0" sx="100000" sy="100000" flip="none" algn="tl"/>
          </a:blip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0" name="Google Shape;10;p1"/>
          <p:cNvSpPr txBox="1"/>
          <p:nvPr/>
        </p:nvSpPr>
        <p:spPr>
          <a:xfrm>
            <a:off x="0" y="-20035"/>
            <a:ext cx="9144000" cy="6465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 sz="3600" b="1" i="0" u="none" strike="noStrike" cap="none">
                <a:solidFill>
                  <a:srgbClr val="FF0000"/>
                </a:solidFill>
                <a:latin typeface="Lucida Sans"/>
                <a:ea typeface="Lucida Sans"/>
                <a:cs typeface="Lucida Sans"/>
                <a:sym typeface="Lucida Sans"/>
              </a:rPr>
              <a:t>BMS</a:t>
            </a:r>
            <a:r>
              <a:rPr lang="en" sz="2700" b="1" i="0" u="none" strike="noStrike" cap="none">
                <a:solidFill>
                  <a:srgbClr val="FF0000"/>
                </a:solidFill>
                <a:latin typeface="Lucida Sans"/>
                <a:ea typeface="Lucida Sans"/>
                <a:cs typeface="Lucida Sans"/>
                <a:sym typeface="Lucida Sans"/>
              </a:rPr>
              <a:t> </a:t>
            </a:r>
            <a:r>
              <a:rPr lang="en" sz="2000" b="1" i="0" u="none" strike="noStrike" cap="none">
                <a:solidFill>
                  <a:srgbClr val="002060"/>
                </a:solidFill>
                <a:latin typeface="Lucida Sans"/>
                <a:ea typeface="Lucida Sans"/>
                <a:cs typeface="Lucida Sans"/>
                <a:sym typeface="Lucida Sans"/>
              </a:rPr>
              <a:t>INSTITUTE OF TECHNOLOGY AND MANAGEMENT</a:t>
            </a:r>
            <a:endParaRPr sz="1800" b="1" i="0" u="none" strike="noStrike" cap="none">
              <a:solidFill>
                <a:srgbClr val="002060"/>
              </a:solidFill>
              <a:latin typeface="Lucida Sans"/>
              <a:ea typeface="Lucida Sans"/>
              <a:cs typeface="Lucida Sans"/>
              <a:sym typeface="Lucida Sans"/>
            </a:endParaRPr>
          </a:p>
        </p:txBody>
      </p:sp>
      <p:pic>
        <p:nvPicPr>
          <p:cNvPr id="11" name="Google Shape;11;p1" descr="C:\Users\Placement\Downloads\Logos\BMSIT LOGO Sept 2015.jpg"/>
          <p:cNvPicPr preferRelativeResize="0"/>
          <p:nvPr/>
        </p:nvPicPr>
        <p:blipFill rotWithShape="1">
          <a:blip r:embed="rId5">
            <a:alphaModFix/>
          </a:blip>
          <a:srcRect/>
          <a:stretch/>
        </p:blipFill>
        <p:spPr>
          <a:xfrm>
            <a:off x="139148" y="13337"/>
            <a:ext cx="471096" cy="434744"/>
          </a:xfrm>
          <a:prstGeom prst="rect">
            <a:avLst/>
          </a:prstGeom>
          <a:noFill/>
          <a:ln>
            <a:noFill/>
          </a:ln>
        </p:spPr>
      </p:pic>
      <p:pic>
        <p:nvPicPr>
          <p:cNvPr id="12" name="Google Shape;12;p1" descr="Image result for india"/>
          <p:cNvPicPr preferRelativeResize="0"/>
          <p:nvPr/>
        </p:nvPicPr>
        <p:blipFill rotWithShape="1">
          <a:blip r:embed="rId6">
            <a:alphaModFix/>
          </a:blip>
          <a:srcRect l="19693" r="16351" b="17178"/>
          <a:stretch/>
        </p:blipFill>
        <p:spPr>
          <a:xfrm>
            <a:off x="8503509" y="77941"/>
            <a:ext cx="461587" cy="36697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36350" y="1053043"/>
            <a:ext cx="8520600" cy="62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t>Department of Computer Science and Engineering</a:t>
            </a:r>
            <a:br>
              <a:rPr lang="en" sz="2000" b="1" dirty="0"/>
            </a:br>
            <a:br>
              <a:rPr lang="en" sz="2000" b="1" dirty="0"/>
            </a:br>
            <a:r>
              <a:rPr lang="en" sz="2000" b="1" dirty="0"/>
              <a:t>Internship Presentation – BCS803</a:t>
            </a:r>
            <a:endParaRPr sz="2000" b="1" dirty="0"/>
          </a:p>
        </p:txBody>
      </p:sp>
      <p:sp>
        <p:nvSpPr>
          <p:cNvPr id="25" name="Google Shape;25;p4"/>
          <p:cNvSpPr txBox="1">
            <a:spLocks noGrp="1"/>
          </p:cNvSpPr>
          <p:nvPr>
            <p:ph type="subTitle" idx="1"/>
          </p:nvPr>
        </p:nvSpPr>
        <p:spPr>
          <a:xfrm>
            <a:off x="311700" y="2327500"/>
            <a:ext cx="8520600" cy="110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lang="en" sz="1800" b="1" dirty="0"/>
          </a:p>
          <a:p>
            <a:pPr marL="0" lvl="0" indent="0" algn="ctr" rtl="0">
              <a:spcBef>
                <a:spcPts val="0"/>
              </a:spcBef>
              <a:spcAft>
                <a:spcPts val="0"/>
              </a:spcAft>
              <a:buNone/>
            </a:pPr>
            <a:r>
              <a:rPr lang="en" sz="1800" b="1" dirty="0"/>
              <a:t>Presented By</a:t>
            </a:r>
            <a:endParaRPr sz="1800" b="1" dirty="0"/>
          </a:p>
          <a:p>
            <a:pPr marL="0" lvl="0" indent="0" algn="l" rtl="0">
              <a:spcBef>
                <a:spcPts val="0"/>
              </a:spcBef>
              <a:spcAft>
                <a:spcPts val="0"/>
              </a:spcAft>
              <a:buNone/>
            </a:pPr>
            <a:r>
              <a:rPr lang="en" sz="1800" b="1" dirty="0"/>
              <a:t>Agnibho Choudhury</a:t>
            </a:r>
            <a:r>
              <a:rPr lang="en" sz="1800" dirty="0"/>
              <a:t>				</a:t>
            </a:r>
          </a:p>
          <a:p>
            <a:pPr marL="0" lvl="0" indent="0" algn="l" rtl="0">
              <a:spcBef>
                <a:spcPts val="0"/>
              </a:spcBef>
              <a:spcAft>
                <a:spcPts val="0"/>
              </a:spcAft>
              <a:buNone/>
            </a:pPr>
            <a:r>
              <a:rPr lang="en" sz="1800" b="1" dirty="0"/>
              <a:t>1by22cs013</a:t>
            </a:r>
          </a:p>
          <a:p>
            <a:pPr marL="0" lvl="0" indent="0" algn="l" rtl="0">
              <a:spcBef>
                <a:spcPts val="0"/>
              </a:spcBef>
              <a:spcAft>
                <a:spcPts val="0"/>
              </a:spcAft>
              <a:buNone/>
            </a:pPr>
            <a:r>
              <a:rPr lang="en" sz="1800" b="1" dirty="0"/>
              <a:t>Ellipsonic</a:t>
            </a:r>
            <a:endParaRPr sz="1800" b="1" dirty="0"/>
          </a:p>
        </p:txBody>
      </p:sp>
      <p:sp>
        <p:nvSpPr>
          <p:cNvPr id="26" name="Google Shape;26;p4"/>
          <p:cNvSpPr txBox="1"/>
          <p:nvPr/>
        </p:nvSpPr>
        <p:spPr>
          <a:xfrm>
            <a:off x="336350" y="1469611"/>
            <a:ext cx="8520600" cy="76941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t>On</a:t>
            </a:r>
            <a:endParaRPr sz="2000" b="1" dirty="0"/>
          </a:p>
          <a:p>
            <a:pPr marL="0" lvl="0" indent="0" algn="ctr" rtl="0">
              <a:spcBef>
                <a:spcPts val="0"/>
              </a:spcBef>
              <a:spcAft>
                <a:spcPts val="0"/>
              </a:spcAft>
              <a:buNone/>
            </a:pPr>
            <a:r>
              <a:rPr lang="en" sz="1800" b="1" dirty="0"/>
              <a:t>   Software Development Internship</a:t>
            </a:r>
            <a:endParaRPr sz="1800" b="1" i="1" dirty="0"/>
          </a:p>
        </p:txBody>
      </p:sp>
      <p:sp>
        <p:nvSpPr>
          <p:cNvPr id="27" name="Google Shape;27;p4"/>
          <p:cNvSpPr txBox="1"/>
          <p:nvPr/>
        </p:nvSpPr>
        <p:spPr>
          <a:xfrm>
            <a:off x="311700" y="3445154"/>
            <a:ext cx="8520600" cy="1662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dirty="0"/>
              <a:t>						</a:t>
            </a:r>
            <a:r>
              <a:rPr lang="en" sz="1800" b="1" dirty="0"/>
              <a:t>Under the guidance of</a:t>
            </a:r>
            <a:endParaRPr sz="1800" b="1" dirty="0"/>
          </a:p>
          <a:p>
            <a:pPr marL="457200" lvl="0" indent="0" algn="r" rtl="0">
              <a:spcBef>
                <a:spcPts val="0"/>
              </a:spcBef>
              <a:spcAft>
                <a:spcPts val="0"/>
              </a:spcAft>
              <a:buNone/>
            </a:pPr>
            <a:r>
              <a:rPr lang="en" sz="1800" b="1" dirty="0"/>
              <a:t>				</a:t>
            </a:r>
            <a:r>
              <a:rPr lang="en-GB" sz="1800" b="1" dirty="0"/>
              <a:t>Prof Jagadish P</a:t>
            </a:r>
            <a:endParaRPr sz="1500" b="1" dirty="0"/>
          </a:p>
          <a:p>
            <a:pPr marL="457200" lvl="0" indent="0" algn="r" rtl="0">
              <a:spcBef>
                <a:spcPts val="0"/>
              </a:spcBef>
              <a:spcAft>
                <a:spcPts val="0"/>
              </a:spcAft>
              <a:buNone/>
            </a:pPr>
            <a:r>
              <a:rPr lang="en" sz="1500" b="1" dirty="0"/>
              <a:t>						   Dept. of </a:t>
            </a:r>
            <a:r>
              <a:rPr lang="en-US" sz="1500" b="1" dirty="0"/>
              <a:t>C</a:t>
            </a:r>
            <a:r>
              <a:rPr lang="en" sz="1500" b="1" dirty="0"/>
              <a:t>SE, BMSIT</a:t>
            </a:r>
            <a:endParaRPr sz="1500" b="1" dirty="0"/>
          </a:p>
          <a:p>
            <a:pPr marL="457200" lvl="0" indent="0" algn="l" rtl="0">
              <a:spcBef>
                <a:spcPts val="0"/>
              </a:spcBef>
              <a:spcAft>
                <a:spcPts val="0"/>
              </a:spcAft>
              <a:buNone/>
            </a:pPr>
            <a:endParaRPr sz="1500" b="1" dirty="0"/>
          </a:p>
          <a:p>
            <a:pPr marL="457200" lvl="0" indent="0" algn="r" rtl="0">
              <a:spcBef>
                <a:spcPts val="0"/>
              </a:spcBef>
              <a:spcAft>
                <a:spcPts val="0"/>
              </a:spcAft>
              <a:buNone/>
            </a:pPr>
            <a:r>
              <a:rPr lang="en" sz="1500" b="1" dirty="0"/>
              <a:t>						Mithun Gowda</a:t>
            </a:r>
            <a:endParaRPr sz="1500" b="1" dirty="0"/>
          </a:p>
          <a:p>
            <a:pPr marL="457200" lvl="0" indent="0" algn="r" rtl="0">
              <a:spcBef>
                <a:spcPts val="0"/>
              </a:spcBef>
              <a:spcAft>
                <a:spcPts val="0"/>
              </a:spcAft>
              <a:buNone/>
            </a:pPr>
            <a:r>
              <a:rPr lang="en" sz="1500" b="1" dirty="0"/>
              <a:t>				Ellipsonic</a:t>
            </a:r>
            <a:endParaRPr sz="15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5"/>
          <p:cNvSpPr txBox="1"/>
          <p:nvPr/>
        </p:nvSpPr>
        <p:spPr>
          <a:xfrm>
            <a:off x="154175" y="812875"/>
            <a:ext cx="8731200" cy="5909280"/>
          </a:xfrm>
          <a:prstGeom prst="rect">
            <a:avLst/>
          </a:prstGeom>
          <a:noFill/>
          <a:ln>
            <a:noFill/>
          </a:ln>
        </p:spPr>
        <p:txBody>
          <a:bodyPr spcFirstLastPara="1" wrap="square" lIns="91425" tIns="91425" rIns="91425" bIns="91425" anchor="t" anchorCtr="0">
            <a:spAutoFit/>
          </a:bodyPr>
          <a:lstStyle/>
          <a:p>
            <a:pPr marL="3200400" lvl="0" indent="457200" algn="just" rtl="0">
              <a:spcBef>
                <a:spcPts val="0"/>
              </a:spcBef>
              <a:spcAft>
                <a:spcPts val="0"/>
              </a:spcAft>
              <a:buNone/>
            </a:pPr>
            <a:r>
              <a:rPr lang="en" sz="2800" b="1" dirty="0"/>
              <a:t>Contents</a:t>
            </a:r>
            <a:endParaRPr sz="2800" b="1" dirty="0"/>
          </a:p>
          <a:p>
            <a:pPr marL="457200" lvl="0" indent="-381000" algn="just" rtl="0">
              <a:lnSpc>
                <a:spcPct val="200000"/>
              </a:lnSpc>
              <a:spcBef>
                <a:spcPts val="0"/>
              </a:spcBef>
              <a:spcAft>
                <a:spcPts val="0"/>
              </a:spcAft>
              <a:buSzPts val="2400"/>
              <a:buChar char="●"/>
            </a:pPr>
            <a:r>
              <a:rPr lang="en" sz="2000" b="1" dirty="0"/>
              <a:t>About Company</a:t>
            </a:r>
          </a:p>
          <a:p>
            <a:pPr marL="457200" lvl="0" indent="-381000" algn="just" rtl="0">
              <a:lnSpc>
                <a:spcPct val="200000"/>
              </a:lnSpc>
              <a:spcBef>
                <a:spcPts val="0"/>
              </a:spcBef>
              <a:spcAft>
                <a:spcPts val="0"/>
              </a:spcAft>
              <a:buSzPts val="2400"/>
              <a:buChar char="●"/>
            </a:pPr>
            <a:r>
              <a:rPr lang="en-GB" sz="2000" b="1" dirty="0"/>
              <a:t>Internship Domain Overview</a:t>
            </a:r>
          </a:p>
          <a:p>
            <a:pPr marL="457200" lvl="0" indent="-381000" algn="just" rtl="0">
              <a:lnSpc>
                <a:spcPct val="200000"/>
              </a:lnSpc>
              <a:spcBef>
                <a:spcPts val="0"/>
              </a:spcBef>
              <a:spcAft>
                <a:spcPts val="0"/>
              </a:spcAft>
              <a:buSzPts val="2400"/>
              <a:buChar char="●"/>
            </a:pPr>
            <a:r>
              <a:rPr lang="en-GB" sz="2000" b="1" dirty="0"/>
              <a:t>Project Title and Description</a:t>
            </a:r>
          </a:p>
          <a:p>
            <a:pPr marL="457200" lvl="0" indent="-381000" algn="just" rtl="0">
              <a:lnSpc>
                <a:spcPct val="200000"/>
              </a:lnSpc>
              <a:spcBef>
                <a:spcPts val="0"/>
              </a:spcBef>
              <a:spcAft>
                <a:spcPts val="0"/>
              </a:spcAft>
              <a:buSzPts val="2400"/>
              <a:buChar char="●"/>
            </a:pPr>
            <a:r>
              <a:rPr lang="en-GB" sz="2000" b="1" dirty="0"/>
              <a:t>Task Completed so far</a:t>
            </a:r>
          </a:p>
          <a:p>
            <a:pPr marL="457200" lvl="0" indent="-381000" algn="just" rtl="0">
              <a:lnSpc>
                <a:spcPct val="200000"/>
              </a:lnSpc>
              <a:spcBef>
                <a:spcPts val="0"/>
              </a:spcBef>
              <a:spcAft>
                <a:spcPts val="0"/>
              </a:spcAft>
              <a:buSzPts val="2400"/>
              <a:buChar char="●"/>
            </a:pPr>
            <a:r>
              <a:rPr lang="en-GB" sz="2000" b="1" dirty="0"/>
              <a:t>Skills Acquired</a:t>
            </a:r>
          </a:p>
          <a:p>
            <a:pPr marL="457200" lvl="0" indent="-381000" algn="just" rtl="0">
              <a:lnSpc>
                <a:spcPct val="200000"/>
              </a:lnSpc>
              <a:spcBef>
                <a:spcPts val="0"/>
              </a:spcBef>
              <a:spcAft>
                <a:spcPts val="0"/>
              </a:spcAft>
              <a:buSzPts val="2400"/>
              <a:buChar char="●"/>
            </a:pPr>
            <a:r>
              <a:rPr lang="en-GB" sz="2000" b="1" dirty="0"/>
              <a:t>Conclusion</a:t>
            </a:r>
            <a:endParaRPr sz="2000" b="1" dirty="0"/>
          </a:p>
          <a:p>
            <a:pPr marL="76200" lvl="0" algn="just" rtl="0">
              <a:lnSpc>
                <a:spcPct val="200000"/>
              </a:lnSpc>
              <a:spcBef>
                <a:spcPts val="0"/>
              </a:spcBef>
              <a:spcAft>
                <a:spcPts val="0"/>
              </a:spcAft>
              <a:buSzPts val="2400"/>
            </a:pPr>
            <a:endParaRPr lang="en" sz="1200" b="1" dirty="0"/>
          </a:p>
          <a:p>
            <a:pPr marL="457200" lvl="0" indent="-381000" algn="just" rtl="0">
              <a:lnSpc>
                <a:spcPct val="200000"/>
              </a:lnSpc>
              <a:spcBef>
                <a:spcPts val="0"/>
              </a:spcBef>
              <a:spcAft>
                <a:spcPts val="0"/>
              </a:spcAft>
              <a:buSzPts val="2400"/>
              <a:buChar char="●"/>
            </a:pPr>
            <a:endParaRPr lang="en" sz="2000" b="1" dirty="0"/>
          </a:p>
          <a:p>
            <a:pPr marL="457200" lvl="0" indent="-381000" algn="just" rtl="0">
              <a:lnSpc>
                <a:spcPct val="200000"/>
              </a:lnSpc>
              <a:spcBef>
                <a:spcPts val="0"/>
              </a:spcBef>
              <a:spcAft>
                <a:spcPts val="0"/>
              </a:spcAft>
              <a:buSzPts val="2400"/>
              <a:buChar char="●"/>
            </a:pPr>
            <a:endParaRPr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6"/>
          <p:cNvSpPr txBox="1"/>
          <p:nvPr/>
        </p:nvSpPr>
        <p:spPr>
          <a:xfrm>
            <a:off x="1" y="840900"/>
            <a:ext cx="8983724" cy="4154953"/>
          </a:xfrm>
          <a:prstGeom prst="rect">
            <a:avLst/>
          </a:prstGeom>
          <a:noFill/>
          <a:ln>
            <a:noFill/>
          </a:ln>
        </p:spPr>
        <p:txBody>
          <a:bodyPr spcFirstLastPara="1" wrap="square" lIns="91425" tIns="91425" rIns="91425" bIns="91425" anchor="t" anchorCtr="0">
            <a:spAutoFit/>
          </a:bodyPr>
          <a:lstStyle/>
          <a:p>
            <a:pPr marL="457200" lvl="0" indent="457200" rtl="0">
              <a:spcBef>
                <a:spcPts val="0"/>
              </a:spcBef>
              <a:spcAft>
                <a:spcPts val="0"/>
              </a:spcAft>
              <a:buNone/>
            </a:pPr>
            <a:r>
              <a:rPr lang="en" sz="3000" b="1" dirty="0"/>
              <a:t>                    About Ellipsonic</a:t>
            </a:r>
          </a:p>
          <a:p>
            <a:pPr marL="457200" lvl="0" indent="457200" algn="ctr" rtl="0">
              <a:spcBef>
                <a:spcPts val="0"/>
              </a:spcBef>
              <a:spcAft>
                <a:spcPts val="0"/>
              </a:spcAft>
              <a:buNone/>
            </a:pPr>
            <a:endParaRPr lang="en" sz="3000" b="1" dirty="0"/>
          </a:p>
          <a:p>
            <a:pPr marL="285750" indent="-285750" algn="just">
              <a:buFont typeface="Arial" panose="020B0604020202020204" pitchFamily="34" charset="0"/>
              <a:buChar char="•"/>
            </a:pPr>
            <a:r>
              <a:rPr lang="en-US" dirty="0" err="1"/>
              <a:t>Ellipsonic</a:t>
            </a:r>
            <a:r>
              <a:rPr lang="en-US" dirty="0"/>
              <a:t> engineers intelligent digital products and platforms tailored for modern enterprises and fast-moving SMBs. By combining strong engineering fundamentals with AI-first thinking</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err="1"/>
              <a:t>Ellipsonic</a:t>
            </a:r>
            <a:r>
              <a:rPr lang="en-US" dirty="0"/>
              <a:t> delivers measurable outcomes enhanced reliability, accelerated performance, and data-driven decision-making. Solutions are designed to scale seamlessly, adapt to evolving business needs, and maximize operational efficiency across industries. </a:t>
            </a:r>
          </a:p>
          <a:p>
            <a:pPr algn="just"/>
            <a:endParaRPr lang="en-US" dirty="0"/>
          </a:p>
          <a:p>
            <a:pPr marL="285750" indent="-285750" algn="just">
              <a:buFont typeface="Arial" panose="020B0604020202020204" pitchFamily="34" charset="0"/>
              <a:buChar char="•"/>
            </a:pPr>
            <a:r>
              <a:rPr lang="en-US" dirty="0"/>
              <a:t>Advanced analytics, automation, and intuitive user experiences are integrated into every solution, enabling organizations to unlock new opportunities, optimize workflows, and drive sustained growth. From concept to deployment, the focus is on building technology that empowers teams, reduces complexity, and supports informed, confident business decisions.</a:t>
            </a:r>
            <a:endParaRPr lang="en" dirty="0"/>
          </a:p>
          <a:p>
            <a:pPr marL="457200" lvl="0" indent="457200" rtl="0">
              <a:spcBef>
                <a:spcPts val="0"/>
              </a:spcBef>
              <a:spcAft>
                <a:spcPts val="0"/>
              </a:spcAft>
              <a:buNone/>
            </a:pPr>
            <a:endParaRPr b="1" dirty="0"/>
          </a:p>
          <a:p>
            <a:pPr marL="1828800" lvl="0" indent="457200" algn="ctr" rtl="0">
              <a:spcBef>
                <a:spcPts val="0"/>
              </a:spcBef>
              <a:spcAft>
                <a:spcPts val="0"/>
              </a:spcAft>
              <a:buNone/>
            </a:pPr>
            <a:endParaRPr sz="3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F733DCA9-847F-8DF0-6947-E3545EBE25DA}"/>
            </a:ext>
          </a:extLst>
        </p:cNvPr>
        <p:cNvGrpSpPr/>
        <p:nvPr/>
      </p:nvGrpSpPr>
      <p:grpSpPr>
        <a:xfrm>
          <a:off x="0" y="0"/>
          <a:ext cx="0" cy="0"/>
          <a:chOff x="0" y="0"/>
          <a:chExt cx="0" cy="0"/>
        </a:xfrm>
      </p:grpSpPr>
      <p:sp>
        <p:nvSpPr>
          <p:cNvPr id="37" name="Google Shape;37;p6">
            <a:extLst>
              <a:ext uri="{FF2B5EF4-FFF2-40B4-BE49-F238E27FC236}">
                <a16:creationId xmlns:a16="http://schemas.microsoft.com/office/drawing/2014/main" id="{9246AA4B-2743-1275-BFCC-FEC8DD1CBE28}"/>
              </a:ext>
            </a:extLst>
          </p:cNvPr>
          <p:cNvSpPr txBox="1"/>
          <p:nvPr/>
        </p:nvSpPr>
        <p:spPr>
          <a:xfrm>
            <a:off x="557562" y="840901"/>
            <a:ext cx="8378282" cy="4862839"/>
          </a:xfrm>
          <a:prstGeom prst="rect">
            <a:avLst/>
          </a:prstGeom>
          <a:noFill/>
          <a:ln>
            <a:noFill/>
          </a:ln>
        </p:spPr>
        <p:txBody>
          <a:bodyPr spcFirstLastPara="1" wrap="square" lIns="91425" tIns="91425" rIns="91425" bIns="91425" anchor="t" anchorCtr="0">
            <a:spAutoFit/>
          </a:bodyPr>
          <a:lstStyle/>
          <a:p>
            <a:pPr marL="457200" lvl="0" indent="457200" rtl="0">
              <a:spcBef>
                <a:spcPts val="0"/>
              </a:spcBef>
              <a:spcAft>
                <a:spcPts val="0"/>
              </a:spcAft>
              <a:buNone/>
            </a:pPr>
            <a:r>
              <a:rPr lang="en" sz="1800" b="1" dirty="0"/>
              <a:t>        Internship Domain Overview(Software Development)</a:t>
            </a:r>
          </a:p>
          <a:p>
            <a:pPr marL="457200" lvl="0" indent="457200" algn="just" rtl="0">
              <a:spcBef>
                <a:spcPts val="0"/>
              </a:spcBef>
              <a:spcAft>
                <a:spcPts val="0"/>
              </a:spcAft>
              <a:buNone/>
            </a:pPr>
            <a:endParaRPr lang="en" sz="1800" b="1" dirty="0"/>
          </a:p>
          <a:p>
            <a:pPr algn="just"/>
            <a:r>
              <a:rPr lang="en-US" dirty="0"/>
              <a:t>Software Development involves designing, coding, testing, and maintaining applications or systems.</a:t>
            </a:r>
          </a:p>
          <a:p>
            <a:pPr algn="just"/>
            <a:endParaRPr lang="en-US" dirty="0"/>
          </a:p>
          <a:p>
            <a:pPr marL="285750" indent="-285750" algn="just">
              <a:buFont typeface="Arial" panose="020B0604020202020204" pitchFamily="34" charset="0"/>
              <a:buChar char="•"/>
            </a:pPr>
            <a:r>
              <a:rPr lang="en-US" dirty="0"/>
              <a:t>It encompasses various stages of the </a:t>
            </a:r>
            <a:r>
              <a:rPr lang="en-US" b="1" dirty="0"/>
              <a:t>Software Development Life Cycle (SDLC)</a:t>
            </a:r>
            <a:r>
              <a:rPr lang="en-US" dirty="0"/>
              <a:t> including requirements analysis, design, implementation, testing, deployment, and maintenance.</a:t>
            </a:r>
          </a:p>
          <a:p>
            <a:pPr marL="285750" indent="-285750" algn="just">
              <a:buFont typeface="Arial" panose="020B0604020202020204" pitchFamily="34" charset="0"/>
              <a:buChar char="•"/>
            </a:pPr>
            <a:r>
              <a:rPr lang="en-US" dirty="0"/>
              <a:t>Developers use programming languages, frameworks, and tools to build </a:t>
            </a:r>
            <a:r>
              <a:rPr lang="en-US" b="1" dirty="0"/>
              <a:t>web, mobile, desktop, and enterprise applications</a:t>
            </a:r>
            <a:r>
              <a:rPr lang="en-US" dirty="0"/>
              <a:t>.</a:t>
            </a:r>
          </a:p>
          <a:p>
            <a:pPr marL="285750" indent="-285750" algn="just">
              <a:buFont typeface="Arial" panose="020B0604020202020204" pitchFamily="34" charset="0"/>
              <a:buChar char="•"/>
            </a:pPr>
            <a:r>
              <a:rPr lang="en-US" dirty="0"/>
              <a:t>Emphasis on </a:t>
            </a:r>
            <a:r>
              <a:rPr lang="en-US" b="1" dirty="0"/>
              <a:t>problem-solving, algorithm design, and code optimization</a:t>
            </a:r>
            <a:r>
              <a:rPr lang="en-US" dirty="0"/>
              <a:t> to create efficient software solutions.</a:t>
            </a:r>
          </a:p>
          <a:p>
            <a:pPr marL="285750" indent="-285750" algn="just">
              <a:buFont typeface="Arial" panose="020B0604020202020204" pitchFamily="34" charset="0"/>
              <a:buChar char="•"/>
            </a:pPr>
            <a:r>
              <a:rPr lang="en-US" dirty="0"/>
              <a:t>Integration of </a:t>
            </a:r>
            <a:r>
              <a:rPr lang="en-US" b="1" dirty="0"/>
              <a:t>AI, cloud computing, and automation</a:t>
            </a:r>
            <a:r>
              <a:rPr lang="en-US" dirty="0"/>
              <a:t> is increasingly shaping modern software products.</a:t>
            </a:r>
          </a:p>
          <a:p>
            <a:pPr marL="285750" indent="-285750" algn="just">
              <a:buFont typeface="Arial" panose="020B0604020202020204" pitchFamily="34" charset="0"/>
              <a:buChar char="•"/>
            </a:pPr>
            <a:r>
              <a:rPr lang="en-US" dirty="0"/>
              <a:t>Collaborative work is key: involves </a:t>
            </a:r>
            <a:r>
              <a:rPr lang="en-US" b="1" dirty="0"/>
              <a:t>team coding, version control, code reviews, and agile methodologies</a:t>
            </a:r>
            <a:r>
              <a:rPr lang="en-US" dirty="0"/>
              <a:t>.</a:t>
            </a:r>
          </a:p>
          <a:p>
            <a:pPr marL="285750" indent="-285750" algn="just">
              <a:buFont typeface="Arial" panose="020B0604020202020204" pitchFamily="34" charset="0"/>
              <a:buChar char="•"/>
            </a:pPr>
            <a:r>
              <a:rPr lang="en-US" dirty="0"/>
              <a:t>Focus on </a:t>
            </a:r>
            <a:r>
              <a:rPr lang="en-US" b="1" dirty="0"/>
              <a:t>user experience (UX), scalability, and security</a:t>
            </a:r>
            <a:r>
              <a:rPr lang="en-US" dirty="0"/>
              <a:t> for robust and reliable applications.</a:t>
            </a:r>
          </a:p>
          <a:p>
            <a:pPr marL="285750" indent="-285750" algn="just">
              <a:buFont typeface="Arial" panose="020B0604020202020204" pitchFamily="34" charset="0"/>
              <a:buChar char="•"/>
            </a:pPr>
            <a:endParaRPr lang="en-US" b="1" dirty="0"/>
          </a:p>
          <a:p>
            <a:pPr marL="457200" lvl="0" indent="457200" algn="ctr" rtl="0">
              <a:spcBef>
                <a:spcPts val="0"/>
              </a:spcBef>
              <a:spcAft>
                <a:spcPts val="0"/>
              </a:spcAft>
              <a:buNone/>
            </a:pPr>
            <a:endParaRPr lang="en" b="1" dirty="0"/>
          </a:p>
          <a:p>
            <a:br>
              <a:rPr lang="en-US" dirty="0"/>
            </a:br>
            <a:endParaRPr lang="en-US" dirty="0"/>
          </a:p>
          <a:p>
            <a:pPr marL="1828800" lvl="0" indent="457200" algn="ctr" rtl="0">
              <a:spcBef>
                <a:spcPts val="0"/>
              </a:spcBef>
              <a:spcAft>
                <a:spcPts val="0"/>
              </a:spcAft>
              <a:buNone/>
            </a:pPr>
            <a:endParaRPr sz="3000" b="1" dirty="0"/>
          </a:p>
        </p:txBody>
      </p:sp>
    </p:spTree>
    <p:extLst>
      <p:ext uri="{BB962C8B-B14F-4D97-AF65-F5344CB8AC3E}">
        <p14:creationId xmlns:p14="http://schemas.microsoft.com/office/powerpoint/2010/main" val="77705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795DAB2B-AC92-6CB9-DCFD-7EBBEBF85653}"/>
            </a:ext>
          </a:extLst>
        </p:cNvPr>
        <p:cNvGrpSpPr/>
        <p:nvPr/>
      </p:nvGrpSpPr>
      <p:grpSpPr>
        <a:xfrm>
          <a:off x="0" y="0"/>
          <a:ext cx="0" cy="0"/>
          <a:chOff x="0" y="0"/>
          <a:chExt cx="0" cy="0"/>
        </a:xfrm>
      </p:grpSpPr>
      <p:sp>
        <p:nvSpPr>
          <p:cNvPr id="37" name="Google Shape;37;p6">
            <a:extLst>
              <a:ext uri="{FF2B5EF4-FFF2-40B4-BE49-F238E27FC236}">
                <a16:creationId xmlns:a16="http://schemas.microsoft.com/office/drawing/2014/main" id="{32AFA2CF-E4A5-E3E4-182E-C75D5820889C}"/>
              </a:ext>
            </a:extLst>
          </p:cNvPr>
          <p:cNvSpPr txBox="1"/>
          <p:nvPr/>
        </p:nvSpPr>
        <p:spPr>
          <a:xfrm>
            <a:off x="557562" y="840901"/>
            <a:ext cx="8378282" cy="5693836"/>
          </a:xfrm>
          <a:prstGeom prst="rect">
            <a:avLst/>
          </a:prstGeom>
          <a:noFill/>
          <a:ln>
            <a:noFill/>
          </a:ln>
        </p:spPr>
        <p:txBody>
          <a:bodyPr spcFirstLastPara="1" wrap="square" lIns="91425" tIns="91425" rIns="91425" bIns="91425" anchor="t" anchorCtr="0">
            <a:spAutoFit/>
          </a:bodyPr>
          <a:lstStyle/>
          <a:p>
            <a:pPr marL="457200" lvl="0" indent="457200" rtl="0">
              <a:spcBef>
                <a:spcPts val="0"/>
              </a:spcBef>
              <a:spcAft>
                <a:spcPts val="0"/>
              </a:spcAft>
              <a:buNone/>
            </a:pPr>
            <a:r>
              <a:rPr lang="en" sz="1600" b="1" dirty="0"/>
              <a:t>QR BASED QUIZ PLATFORM(PROJECT DESCRIPTION AND TASKS)</a:t>
            </a:r>
          </a:p>
          <a:p>
            <a:pPr marL="457200" lvl="0" indent="457200" algn="ctr" rtl="0">
              <a:spcBef>
                <a:spcPts val="0"/>
              </a:spcBef>
              <a:spcAft>
                <a:spcPts val="0"/>
              </a:spcAft>
              <a:buNone/>
            </a:pPr>
            <a:endParaRPr lang="en" sz="1800" b="1" dirty="0"/>
          </a:p>
          <a:p>
            <a:pPr marL="285750" indent="-285750" algn="just">
              <a:buFont typeface="Arial" panose="020B0604020202020204" pitchFamily="34" charset="0"/>
              <a:buChar char="•"/>
            </a:pPr>
            <a:r>
              <a:rPr lang="en-IN" b="1" dirty="0"/>
              <a:t>Purpose:</a:t>
            </a:r>
            <a:r>
              <a:rPr lang="en-IN" dirty="0"/>
              <a:t> Enables admins to create quizzes and students to attempt them instantly by scanning a QR code — no manual navigation needed</a:t>
            </a:r>
          </a:p>
          <a:p>
            <a:pPr algn="just"/>
            <a:endParaRPr lang="en-IN" dirty="0"/>
          </a:p>
          <a:p>
            <a:pPr marL="285750" indent="-285750" algn="just">
              <a:buFont typeface="Arial" panose="020B0604020202020204" pitchFamily="34" charset="0"/>
              <a:buChar char="•"/>
            </a:pPr>
            <a:r>
              <a:rPr lang="en-IN" b="1" dirty="0"/>
              <a:t>User Roles:</a:t>
            </a:r>
            <a:r>
              <a:rPr lang="en-IN" dirty="0"/>
              <a:t> Admin (full control) and Student (attempt quizzes, earn rewards)</a:t>
            </a:r>
          </a:p>
          <a:p>
            <a:pPr algn="just"/>
            <a:endParaRPr lang="en-IN" dirty="0"/>
          </a:p>
          <a:p>
            <a:pPr marL="285750" indent="-285750" algn="just">
              <a:buFont typeface="Arial" panose="020B0604020202020204" pitchFamily="34" charset="0"/>
              <a:buChar char="•"/>
            </a:pPr>
            <a:r>
              <a:rPr lang="en-IN" b="1" dirty="0"/>
              <a:t>Tech Stack:</a:t>
            </a:r>
            <a:r>
              <a:rPr lang="en-IN" dirty="0"/>
              <a:t> Next.js (Frontend) · Node.js + Express (Backend) · MongoDB (Database) · Docker (Containerization)</a:t>
            </a:r>
          </a:p>
          <a:p>
            <a:pPr algn="just"/>
            <a:endParaRPr lang="en-IN" dirty="0"/>
          </a:p>
          <a:p>
            <a:pPr marL="285750" indent="-285750" algn="just">
              <a:buFont typeface="Arial" panose="020B0604020202020204" pitchFamily="34" charset="0"/>
              <a:buChar char="•"/>
            </a:pPr>
            <a:r>
              <a:rPr lang="en-IN" b="1" dirty="0"/>
              <a:t>Authentication:</a:t>
            </a:r>
            <a:r>
              <a:rPr lang="en-IN" dirty="0"/>
              <a:t> JWT tokens in HTTP-only cookies ·</a:t>
            </a:r>
            <a:r>
              <a:rPr lang="en-IN" dirty="0" err="1"/>
              <a:t>bcrypt</a:t>
            </a:r>
            <a:r>
              <a:rPr lang="en-IN" dirty="0"/>
              <a:t> password hashing · Role-based access control</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b="1" dirty="0"/>
              <a:t>Quiz Engine:</a:t>
            </a:r>
            <a:r>
              <a:rPr lang="en-IN" dirty="0"/>
              <a:t> Supports 5 question types (Single Choice, Multi-Select, True/False, Fill in the Blank, Match,) · Custom marks per question · Negative marking · Time limits · Time-based bonus scoring</a:t>
            </a:r>
          </a:p>
          <a:p>
            <a:pPr algn="just"/>
            <a:endParaRPr lang="en-IN" dirty="0"/>
          </a:p>
          <a:p>
            <a:pPr marL="285750" indent="-285750" algn="just">
              <a:buFont typeface="Arial" panose="020B0604020202020204" pitchFamily="34" charset="0"/>
              <a:buChar char="•"/>
            </a:pPr>
            <a:r>
              <a:rPr lang="en-IN" b="1" dirty="0"/>
              <a:t>Certifications:</a:t>
            </a:r>
            <a:r>
              <a:rPr lang="en-IN" dirty="0"/>
              <a:t> Admin certifies qualifying students; students download PDF certificates · Configurable passing marks per topic</a:t>
            </a:r>
          </a:p>
          <a:p>
            <a:pPr marL="285750" indent="-285750">
              <a:buFont typeface="Arial" panose="020B0604020202020204" pitchFamily="34" charset="0"/>
              <a:buChar char="•"/>
            </a:pPr>
            <a:endParaRPr lang="en-IN" dirty="0"/>
          </a:p>
          <a:p>
            <a:pPr marL="285750" indent="-285750" algn="just">
              <a:buFont typeface="Arial" panose="020B0604020202020204" pitchFamily="34" charset="0"/>
              <a:buChar char="•"/>
            </a:pPr>
            <a:endParaRPr lang="en-US" dirty="0"/>
          </a:p>
          <a:p>
            <a:pPr marL="457200" lvl="0" indent="457200" algn="ctr" rtl="0">
              <a:spcBef>
                <a:spcPts val="0"/>
              </a:spcBef>
              <a:spcAft>
                <a:spcPts val="0"/>
              </a:spcAft>
              <a:buNone/>
            </a:pPr>
            <a:endParaRPr lang="en" b="1" dirty="0"/>
          </a:p>
          <a:p>
            <a:br>
              <a:rPr lang="en-US" dirty="0"/>
            </a:br>
            <a:endParaRPr lang="en-US" dirty="0"/>
          </a:p>
          <a:p>
            <a:pPr marL="1828800" lvl="0" indent="457200" algn="ctr" rtl="0">
              <a:spcBef>
                <a:spcPts val="0"/>
              </a:spcBef>
              <a:spcAft>
                <a:spcPts val="0"/>
              </a:spcAft>
              <a:buNone/>
            </a:pPr>
            <a:endParaRPr sz="3000" b="1" dirty="0"/>
          </a:p>
        </p:txBody>
      </p:sp>
    </p:spTree>
    <p:extLst>
      <p:ext uri="{BB962C8B-B14F-4D97-AF65-F5344CB8AC3E}">
        <p14:creationId xmlns:p14="http://schemas.microsoft.com/office/powerpoint/2010/main" val="291558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01354AC0-948A-C3D7-F2D4-97999F8D8E3A}"/>
            </a:ext>
          </a:extLst>
        </p:cNvPr>
        <p:cNvGrpSpPr/>
        <p:nvPr/>
      </p:nvGrpSpPr>
      <p:grpSpPr>
        <a:xfrm>
          <a:off x="0" y="0"/>
          <a:ext cx="0" cy="0"/>
          <a:chOff x="0" y="0"/>
          <a:chExt cx="0" cy="0"/>
        </a:xfrm>
      </p:grpSpPr>
      <p:sp>
        <p:nvSpPr>
          <p:cNvPr id="37" name="Google Shape;37;p6">
            <a:extLst>
              <a:ext uri="{FF2B5EF4-FFF2-40B4-BE49-F238E27FC236}">
                <a16:creationId xmlns:a16="http://schemas.microsoft.com/office/drawing/2014/main" id="{81A9A8B1-F139-0D8E-22C6-877844A1833B}"/>
              </a:ext>
            </a:extLst>
          </p:cNvPr>
          <p:cNvSpPr txBox="1"/>
          <p:nvPr/>
        </p:nvSpPr>
        <p:spPr>
          <a:xfrm>
            <a:off x="170986" y="751692"/>
            <a:ext cx="8378282" cy="3724066"/>
          </a:xfrm>
          <a:prstGeom prst="rect">
            <a:avLst/>
          </a:prstGeom>
          <a:noFill/>
          <a:ln>
            <a:noFill/>
          </a:ln>
        </p:spPr>
        <p:txBody>
          <a:bodyPr spcFirstLastPara="1" wrap="square" lIns="91425" tIns="91425" rIns="91425" bIns="91425" anchor="t" anchorCtr="0">
            <a:spAutoFit/>
          </a:bodyPr>
          <a:lstStyle/>
          <a:p>
            <a:pPr marL="457200" lvl="0" indent="457200" algn="ctr" rtl="0">
              <a:spcBef>
                <a:spcPts val="0"/>
              </a:spcBef>
              <a:spcAft>
                <a:spcPts val="0"/>
              </a:spcAft>
              <a:buNone/>
            </a:pPr>
            <a:endParaRPr lang="en" sz="1800" b="1"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b="1" dirty="0"/>
              <a:t>Gamification:</a:t>
            </a:r>
            <a:r>
              <a:rPr lang="en-IN" dirty="0"/>
              <a:t> Points system · Daily login streaks · 7-day streak bonuses · Referral rewards · Auto-earned digital badges</a:t>
            </a:r>
          </a:p>
          <a:p>
            <a:pPr algn="just"/>
            <a:endParaRPr lang="en-IN" dirty="0"/>
          </a:p>
          <a:p>
            <a:pPr marL="285750" indent="-285750" algn="just">
              <a:buFont typeface="Arial" panose="020B0604020202020204" pitchFamily="34" charset="0"/>
              <a:buChar char="•"/>
            </a:pPr>
            <a:r>
              <a:rPr lang="en-IN" b="1" dirty="0"/>
              <a:t>Study Materials:</a:t>
            </a:r>
            <a:r>
              <a:rPr lang="en-IN" dirty="0"/>
              <a:t> Admins upload topic-linked files (up to 50 MB); students access them from their dashboard</a:t>
            </a:r>
          </a:p>
          <a:p>
            <a:pPr algn="just"/>
            <a:endParaRPr lang="en-IN" dirty="0"/>
          </a:p>
          <a:p>
            <a:pPr marL="285750" indent="-285750" algn="just">
              <a:buFont typeface="Arial" panose="020B0604020202020204" pitchFamily="34" charset="0"/>
              <a:buChar char="•"/>
            </a:pPr>
            <a:r>
              <a:rPr lang="en-IN" b="1" dirty="0"/>
              <a:t>Analytics:</a:t>
            </a:r>
            <a:r>
              <a:rPr lang="en-IN" dirty="0"/>
              <a:t> Topic-wise participant tracking · Global student leaderboard · Admin-to-student messaging system</a:t>
            </a:r>
          </a:p>
          <a:p>
            <a:pPr marL="285750" indent="-285750" algn="just">
              <a:buFont typeface="Arial" panose="020B0604020202020204" pitchFamily="34" charset="0"/>
              <a:buChar char="•"/>
            </a:pPr>
            <a:endParaRPr lang="en-US" dirty="0"/>
          </a:p>
          <a:p>
            <a:pPr marL="457200" lvl="0" indent="457200" algn="ctr" rtl="0">
              <a:spcBef>
                <a:spcPts val="0"/>
              </a:spcBef>
              <a:spcAft>
                <a:spcPts val="0"/>
              </a:spcAft>
              <a:buNone/>
            </a:pPr>
            <a:endParaRPr lang="en" b="1" dirty="0"/>
          </a:p>
          <a:p>
            <a:br>
              <a:rPr lang="en-US" dirty="0"/>
            </a:br>
            <a:endParaRPr lang="en-US" dirty="0"/>
          </a:p>
          <a:p>
            <a:pPr marL="1828800" lvl="0" indent="457200" algn="ctr" rtl="0">
              <a:spcBef>
                <a:spcPts val="0"/>
              </a:spcBef>
              <a:spcAft>
                <a:spcPts val="0"/>
              </a:spcAft>
              <a:buNone/>
            </a:pPr>
            <a:endParaRPr sz="3000" b="1" dirty="0"/>
          </a:p>
        </p:txBody>
      </p:sp>
    </p:spTree>
    <p:extLst>
      <p:ext uri="{BB962C8B-B14F-4D97-AF65-F5344CB8AC3E}">
        <p14:creationId xmlns:p14="http://schemas.microsoft.com/office/powerpoint/2010/main" val="1682622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D8FE6C6D-9A2F-9136-7592-B9D8127C3524}"/>
            </a:ext>
          </a:extLst>
        </p:cNvPr>
        <p:cNvGrpSpPr/>
        <p:nvPr/>
      </p:nvGrpSpPr>
      <p:grpSpPr>
        <a:xfrm>
          <a:off x="0" y="0"/>
          <a:ext cx="0" cy="0"/>
          <a:chOff x="0" y="0"/>
          <a:chExt cx="0" cy="0"/>
        </a:xfrm>
      </p:grpSpPr>
      <p:sp>
        <p:nvSpPr>
          <p:cNvPr id="37" name="Google Shape;37;p6">
            <a:extLst>
              <a:ext uri="{FF2B5EF4-FFF2-40B4-BE49-F238E27FC236}">
                <a16:creationId xmlns:a16="http://schemas.microsoft.com/office/drawing/2014/main" id="{B36503DF-06C9-2C96-B31B-CA63D6D64789}"/>
              </a:ext>
            </a:extLst>
          </p:cNvPr>
          <p:cNvSpPr txBox="1"/>
          <p:nvPr/>
        </p:nvSpPr>
        <p:spPr>
          <a:xfrm>
            <a:off x="170986" y="751692"/>
            <a:ext cx="8378282" cy="5047505"/>
          </a:xfrm>
          <a:prstGeom prst="rect">
            <a:avLst/>
          </a:prstGeom>
          <a:noFill/>
          <a:ln>
            <a:noFill/>
          </a:ln>
        </p:spPr>
        <p:txBody>
          <a:bodyPr spcFirstLastPara="1" wrap="square" lIns="91425" tIns="91425" rIns="91425" bIns="91425" anchor="t" anchorCtr="0">
            <a:spAutoFit/>
          </a:bodyPr>
          <a:lstStyle/>
          <a:p>
            <a:pPr marL="457200" lvl="0" indent="457200" algn="ctr" rtl="0">
              <a:spcBef>
                <a:spcPts val="0"/>
              </a:spcBef>
              <a:spcAft>
                <a:spcPts val="0"/>
              </a:spcAft>
              <a:buNone/>
            </a:pPr>
            <a:endParaRPr lang="en" sz="1800" b="1" dirty="0"/>
          </a:p>
          <a:p>
            <a:pPr algn="ctr"/>
            <a:r>
              <a:rPr lang="en-IN" sz="1600" b="1" dirty="0"/>
              <a:t>SKILLS ACQUIRED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Full-Stack Web Development:</a:t>
            </a:r>
            <a:r>
              <a:rPr lang="en-US" dirty="0"/>
              <a:t> Built a complete web app using Next.js (frontend), Node.js + Express (backend), and MongoDB — from UI design to REST API development</a:t>
            </a:r>
          </a:p>
          <a:p>
            <a:pPr algn="just"/>
            <a:endParaRPr lang="en-US" dirty="0"/>
          </a:p>
          <a:p>
            <a:pPr marL="285750" indent="-285750" algn="just">
              <a:buFont typeface="Arial" panose="020B0604020202020204" pitchFamily="34" charset="0"/>
              <a:buChar char="•"/>
            </a:pPr>
            <a:r>
              <a:rPr lang="en-US" b="1" dirty="0"/>
              <a:t>Authentication &amp; Security:</a:t>
            </a:r>
            <a:r>
              <a:rPr lang="en-US" dirty="0"/>
              <a:t> Implemented JWT-based login with HTTP-only cookies, role-based access control, and </a:t>
            </a:r>
            <a:r>
              <a:rPr lang="en-US" dirty="0" err="1"/>
              <a:t>bcrypt</a:t>
            </a:r>
            <a:r>
              <a:rPr lang="en-US" dirty="0"/>
              <a:t> password hashing</a:t>
            </a:r>
          </a:p>
          <a:p>
            <a:pPr algn="just"/>
            <a:endParaRPr lang="en-US" dirty="0"/>
          </a:p>
          <a:p>
            <a:pPr marL="285750" indent="-285750" algn="just">
              <a:buFont typeface="Arial" panose="020B0604020202020204" pitchFamily="34" charset="0"/>
              <a:buChar char="•"/>
            </a:pPr>
            <a:r>
              <a:rPr lang="en-US" b="1" dirty="0"/>
              <a:t>System Design:</a:t>
            </a:r>
            <a:r>
              <a:rPr lang="en-US" dirty="0"/>
              <a:t> Designed a scalable architecture with a gamification engine (points, streaks, badges, referrals), configurable scoring (negative marking, time bonus), and certification workflows</a:t>
            </a:r>
          </a:p>
          <a:p>
            <a:pPr algn="just"/>
            <a:endParaRPr lang="en-US" dirty="0"/>
          </a:p>
          <a:p>
            <a:pPr marL="285750" indent="-285750" algn="just">
              <a:buFont typeface="Arial" panose="020B0604020202020204" pitchFamily="34" charset="0"/>
              <a:buChar char="•"/>
            </a:pPr>
            <a:r>
              <a:rPr lang="en-US" b="1" dirty="0"/>
              <a:t>File Handling &amp; PDF Generation:</a:t>
            </a:r>
            <a:r>
              <a:rPr lang="en-US" dirty="0"/>
              <a:t> Managed large file uploads (up to 50 MB) with Multer and generated downloadable PDF certificates using html2canvas + </a:t>
            </a:r>
            <a:r>
              <a:rPr lang="en-US" dirty="0" err="1"/>
              <a:t>jsPDF</a:t>
            </a:r>
            <a:endParaRPr lang="en-US" dirty="0"/>
          </a:p>
          <a:p>
            <a:pPr algn="just"/>
            <a:endParaRPr lang="en-US" dirty="0"/>
          </a:p>
          <a:p>
            <a:pPr marL="285750" indent="-285750" algn="just">
              <a:buFont typeface="Arial" panose="020B0604020202020204" pitchFamily="34" charset="0"/>
              <a:buChar char="•"/>
            </a:pPr>
            <a:r>
              <a:rPr lang="en-US" b="1" dirty="0"/>
              <a:t>DevOps &amp; Deployment:</a:t>
            </a:r>
            <a:r>
              <a:rPr lang="en-US" dirty="0"/>
              <a:t> Containerized the full stack with Docker Compose</a:t>
            </a:r>
          </a:p>
          <a:p>
            <a:pPr marL="285750" indent="-285750" algn="just">
              <a:buFont typeface="Arial" panose="020B0604020202020204" pitchFamily="34" charset="0"/>
              <a:buChar char="•"/>
            </a:pPr>
            <a:endParaRPr lang="en-US" dirty="0"/>
          </a:p>
          <a:p>
            <a:pPr marL="457200" lvl="0" indent="457200" algn="ctr" rtl="0">
              <a:spcBef>
                <a:spcPts val="0"/>
              </a:spcBef>
              <a:spcAft>
                <a:spcPts val="0"/>
              </a:spcAft>
              <a:buNone/>
            </a:pPr>
            <a:endParaRPr lang="en" b="1" dirty="0"/>
          </a:p>
          <a:p>
            <a:br>
              <a:rPr lang="en-US" dirty="0"/>
            </a:br>
            <a:endParaRPr lang="en-US" dirty="0"/>
          </a:p>
          <a:p>
            <a:pPr marL="1828800" lvl="0" indent="457200" algn="ctr" rtl="0">
              <a:spcBef>
                <a:spcPts val="0"/>
              </a:spcBef>
              <a:spcAft>
                <a:spcPts val="0"/>
              </a:spcAft>
              <a:buNone/>
            </a:pPr>
            <a:endParaRPr sz="3000" b="1" dirty="0"/>
          </a:p>
        </p:txBody>
      </p:sp>
    </p:spTree>
    <p:extLst>
      <p:ext uri="{BB962C8B-B14F-4D97-AF65-F5344CB8AC3E}">
        <p14:creationId xmlns:p14="http://schemas.microsoft.com/office/powerpoint/2010/main" val="37392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
          <a:extLst>
            <a:ext uri="{FF2B5EF4-FFF2-40B4-BE49-F238E27FC236}">
              <a16:creationId xmlns:a16="http://schemas.microsoft.com/office/drawing/2014/main" id="{3C4B8702-3034-C413-5654-49CD83D63A5F}"/>
            </a:ext>
          </a:extLst>
        </p:cNvPr>
        <p:cNvGrpSpPr/>
        <p:nvPr/>
      </p:nvGrpSpPr>
      <p:grpSpPr>
        <a:xfrm>
          <a:off x="0" y="0"/>
          <a:ext cx="0" cy="0"/>
          <a:chOff x="0" y="0"/>
          <a:chExt cx="0" cy="0"/>
        </a:xfrm>
      </p:grpSpPr>
      <p:sp>
        <p:nvSpPr>
          <p:cNvPr id="37" name="Google Shape;37;p6">
            <a:extLst>
              <a:ext uri="{FF2B5EF4-FFF2-40B4-BE49-F238E27FC236}">
                <a16:creationId xmlns:a16="http://schemas.microsoft.com/office/drawing/2014/main" id="{853ACF53-2224-99D5-AD96-23D6A3286B84}"/>
              </a:ext>
            </a:extLst>
          </p:cNvPr>
          <p:cNvSpPr txBox="1"/>
          <p:nvPr/>
        </p:nvSpPr>
        <p:spPr>
          <a:xfrm>
            <a:off x="170986" y="751692"/>
            <a:ext cx="8378282" cy="4832062"/>
          </a:xfrm>
          <a:prstGeom prst="rect">
            <a:avLst/>
          </a:prstGeom>
          <a:noFill/>
          <a:ln>
            <a:noFill/>
          </a:ln>
        </p:spPr>
        <p:txBody>
          <a:bodyPr spcFirstLastPara="1" wrap="square" lIns="91425" tIns="91425" rIns="91425" bIns="91425" anchor="t" anchorCtr="0">
            <a:spAutoFit/>
          </a:bodyPr>
          <a:lstStyle/>
          <a:p>
            <a:pPr marL="457200" lvl="0" indent="457200" algn="ctr" rtl="0">
              <a:spcBef>
                <a:spcPts val="0"/>
              </a:spcBef>
              <a:spcAft>
                <a:spcPts val="0"/>
              </a:spcAft>
              <a:buNone/>
            </a:pPr>
            <a:endParaRPr lang="en" sz="1800" b="1" dirty="0"/>
          </a:p>
          <a:p>
            <a:pPr algn="ctr"/>
            <a:r>
              <a:rPr lang="en-IN" sz="1600" b="1" dirty="0"/>
              <a:t>CONCLUSION</a:t>
            </a:r>
          </a:p>
          <a:p>
            <a:pPr marL="285750" indent="-285750" algn="just">
              <a:buFont typeface="Arial" panose="020B0604020202020204" pitchFamily="34" charset="0"/>
              <a:buChar char="•"/>
            </a:pPr>
            <a:endParaRPr lang="en-US" dirty="0"/>
          </a:p>
          <a:p>
            <a:pPr algn="just"/>
            <a:r>
              <a:rPr lang="en-US" dirty="0"/>
              <a:t>The QR Quiz Platform is a comprehensive, full-stack web application designed to transform the way quizzes are conducted and experienced. By integrating QR-code-based instant access, a robust and feature-rich admin panel, and a gamified student interface, the platform effectively bridges the gap between traditional assessments and modern, engaging learning tools.</a:t>
            </a:r>
          </a:p>
          <a:p>
            <a:pPr algn="just"/>
            <a:endParaRPr lang="en-US" dirty="0"/>
          </a:p>
          <a:p>
            <a:pPr algn="just"/>
            <a:r>
              <a:rPr lang="en-US" dirty="0"/>
              <a:t>The system provides educators with tools for creating, managing, and monitoring quizzes in real-time, while students benefit from an interactive, intuitive, and engaging learning environment. Features such as dynamic scoring engines, secure authentication, timed quizzes, and detailed analytics ensure both accuracy and efficiency in assessment processes.</a:t>
            </a:r>
          </a:p>
          <a:p>
            <a:pPr algn="just"/>
            <a:endParaRPr lang="en-US" dirty="0"/>
          </a:p>
          <a:p>
            <a:pPr algn="just"/>
            <a:r>
              <a:rPr lang="en-US" dirty="0"/>
              <a:t>Ultimately, the QR Quiz Platform is a deployable, user-friendly, and future-ready solution, providing a seamless and engaging experience for both educators and learners, while demonstrating the practical application of full-stack web development in a real-world educational setting.</a:t>
            </a:r>
          </a:p>
          <a:p>
            <a:pPr marL="457200" lvl="0" indent="457200" algn="ctr" rtl="0">
              <a:spcBef>
                <a:spcPts val="0"/>
              </a:spcBef>
              <a:spcAft>
                <a:spcPts val="0"/>
              </a:spcAft>
              <a:buNone/>
            </a:pPr>
            <a:endParaRPr lang="en" b="1" dirty="0"/>
          </a:p>
          <a:p>
            <a:br>
              <a:rPr lang="en-US" dirty="0"/>
            </a:br>
            <a:endParaRPr lang="en-US" dirty="0"/>
          </a:p>
          <a:p>
            <a:pPr marL="1828800" lvl="0" indent="457200" algn="ctr" rtl="0">
              <a:spcBef>
                <a:spcPts val="0"/>
              </a:spcBef>
              <a:spcAft>
                <a:spcPts val="0"/>
              </a:spcAft>
              <a:buNone/>
            </a:pPr>
            <a:endParaRPr sz="3000" b="1" dirty="0"/>
          </a:p>
        </p:txBody>
      </p:sp>
    </p:spTree>
    <p:extLst>
      <p:ext uri="{BB962C8B-B14F-4D97-AF65-F5344CB8AC3E}">
        <p14:creationId xmlns:p14="http://schemas.microsoft.com/office/powerpoint/2010/main" val="302934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p:nvPr/>
        </p:nvSpPr>
        <p:spPr>
          <a:xfrm>
            <a:off x="919508" y="1874775"/>
            <a:ext cx="6906530" cy="166196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200" dirty="0"/>
              <a:t>THANK</a:t>
            </a:r>
            <a:r>
              <a:rPr lang="en" sz="9600" dirty="0"/>
              <a:t> </a:t>
            </a:r>
            <a:r>
              <a:rPr lang="en" sz="7200" dirty="0"/>
              <a:t>YOU</a:t>
            </a:r>
            <a:endParaRPr sz="9600" dirty="0"/>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833</Words>
  <Application>Microsoft Office PowerPoint</Application>
  <PresentationFormat>On-screen Show (16:9)</PresentationFormat>
  <Paragraphs>95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Lucida Sans</vt:lpstr>
      <vt:lpstr>1_Office Theme</vt:lpstr>
      <vt:lpstr>Department of Computer Science and Engineering  Internship Presentation – BCS803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Presentation - 17IS84</dc:title>
  <dc:creator>Pro</dc:creator>
  <cp:lastModifiedBy>agni choudhury</cp:lastModifiedBy>
  <cp:revision>8</cp:revision>
  <dcterms:modified xsi:type="dcterms:W3CDTF">2026-02-26T14:57:04Z</dcterms:modified>
</cp:coreProperties>
</file>